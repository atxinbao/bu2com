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c85eeb90154419" /><Relationship Type="http://schemas.openxmlformats.org/officeDocument/2006/relationships/extended-properties" Target="/docProps/app.xml" Id="R324a59b8fbbe448f" /><Relationship Type="http://schemas.openxmlformats.org/officeDocument/2006/relationships/officeDocument" Target="/ppt/presentation.xml" Id="R21b4f6b571be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f378aa5c7411f"/>
  </p:sldMasterIdLst>
  <p:notesMasterIdLst>
    <p:notesMasterId xmlns:r="http://schemas.openxmlformats.org/officeDocument/2006/relationships" r:id="R3122a750acb04607"/>
  </p:notesMasterIdLst>
  <p:sldIdLst>
    <p:sldId xmlns:r="http://schemas.openxmlformats.org/officeDocument/2006/relationships" id="256" r:id="R8eeca47df03441b2"/>
    <p:sldId xmlns:r="http://schemas.openxmlformats.org/officeDocument/2006/relationships" id="257" r:id="R6acf17962a724795"/>
    <p:sldId xmlns:r="http://schemas.openxmlformats.org/officeDocument/2006/relationships" id="258" r:id="Rb7f0f3b129bb437c"/>
    <p:sldId xmlns:r="http://schemas.openxmlformats.org/officeDocument/2006/relationships" id="259" r:id="R18fa6b0040524590"/>
    <p:sldId xmlns:r="http://schemas.openxmlformats.org/officeDocument/2006/relationships" id="260" r:id="Rfb6441be1195443a"/>
    <p:sldId xmlns:r="http://schemas.openxmlformats.org/officeDocument/2006/relationships" id="261" r:id="R176ef82694a64c47"/>
    <p:sldId xmlns:r="http://schemas.openxmlformats.org/officeDocument/2006/relationships" id="262" r:id="R2f6126c32bb44b12"/>
    <p:sldId xmlns:r="http://schemas.openxmlformats.org/officeDocument/2006/relationships" id="263" r:id="R20d5870e43f44e8a"/>
    <p:sldId xmlns:r="http://schemas.openxmlformats.org/officeDocument/2006/relationships" id="264" r:id="Rf52f7186e7c94aea"/>
    <p:sldId xmlns:r="http://schemas.openxmlformats.org/officeDocument/2006/relationships" id="265" r:id="R7cba8c02d7234ea2"/>
    <p:sldId xmlns:r="http://schemas.openxmlformats.org/officeDocument/2006/relationships" id="266" r:id="Rfa9de63a97704536"/>
    <p:sldId xmlns:r="http://schemas.openxmlformats.org/officeDocument/2006/relationships" id="267" r:id="Rf21a5c020a534667"/>
    <p:sldId xmlns:r="http://schemas.openxmlformats.org/officeDocument/2006/relationships" id="268" r:id="Ra6195be6ebba4728"/>
    <p:sldId xmlns:r="http://schemas.openxmlformats.org/officeDocument/2006/relationships" id="269" r:id="R8ac0b32cfcd047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628660b694d9a" /><Relationship Type="http://schemas.openxmlformats.org/officeDocument/2006/relationships/slideMaster" Target="/ppt/slideMasters/slideMaster1.xml" Id="Rc3bf378aa5c7411f" /><Relationship Type="http://schemas.openxmlformats.org/officeDocument/2006/relationships/notesMaster" Target="/ppt/notesMasters/notesMaster1.xml" Id="R3122a750acb04607" /><Relationship Type="http://schemas.openxmlformats.org/officeDocument/2006/relationships/presProps" Target="/ppt/presProps.xml" Id="R774699a7619c4beb" /><Relationship Type="http://schemas.openxmlformats.org/officeDocument/2006/relationships/tableStyles" Target="/ppt/tableStyles.xml" Id="R48f4359af5e640e9" /><Relationship Type="http://schemas.openxmlformats.org/officeDocument/2006/relationships/slide" Target="/ppt/slides/slide1.xml" Id="R8eeca47df03441b2" /><Relationship Type="http://schemas.openxmlformats.org/officeDocument/2006/relationships/slide" Target="/ppt/slides/slide2.xml" Id="R6acf17962a724795" /><Relationship Type="http://schemas.openxmlformats.org/officeDocument/2006/relationships/slide" Target="/ppt/slides/slide3.xml" Id="Rb7f0f3b129bb437c" /><Relationship Type="http://schemas.openxmlformats.org/officeDocument/2006/relationships/slide" Target="/ppt/slides/slide4.xml" Id="R18fa6b0040524590" /><Relationship Type="http://schemas.openxmlformats.org/officeDocument/2006/relationships/slide" Target="/ppt/slides/slide5.xml" Id="Rfb6441be1195443a" /><Relationship Type="http://schemas.openxmlformats.org/officeDocument/2006/relationships/slide" Target="/ppt/slides/slide6.xml" Id="R176ef82694a64c47" /><Relationship Type="http://schemas.openxmlformats.org/officeDocument/2006/relationships/slide" Target="/ppt/slides/slide7.xml" Id="R2f6126c32bb44b12" /><Relationship Type="http://schemas.openxmlformats.org/officeDocument/2006/relationships/slide" Target="/ppt/slides/slide8.xml" Id="R20d5870e43f44e8a" /><Relationship Type="http://schemas.openxmlformats.org/officeDocument/2006/relationships/slide" Target="/ppt/slides/slide9.xml" Id="Rf52f7186e7c94aea" /><Relationship Type="http://schemas.openxmlformats.org/officeDocument/2006/relationships/slide" Target="/ppt/slides/slide10.xml" Id="R7cba8c02d7234ea2" /><Relationship Type="http://schemas.openxmlformats.org/officeDocument/2006/relationships/slide" Target="/ppt/slides/slide11.xml" Id="Rfa9de63a97704536" /><Relationship Type="http://schemas.openxmlformats.org/officeDocument/2006/relationships/slide" Target="/ppt/slides/slide12.xml" Id="Rf21a5c020a534667" /><Relationship Type="http://schemas.openxmlformats.org/officeDocument/2006/relationships/slide" Target="/ppt/slides/slide13.xml" Id="Ra6195be6ebba4728" /><Relationship Type="http://schemas.openxmlformats.org/officeDocument/2006/relationships/slide" Target="/ppt/slides/slide14.xml" Id="R8ac0b32cfcd0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9295a7da548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23c144cc684f43" /><Relationship Type="http://schemas.openxmlformats.org/officeDocument/2006/relationships/notesMaster" Target="/ppt/notesMasters/notesMaster1.xml" Id="Rcbf81f357df242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bd3ae64784ad3" /><Relationship Type="http://schemas.openxmlformats.org/officeDocument/2006/relationships/notesMaster" Target="/ppt/notesMasters/notesMaster1.xml" Id="R5c6e14030457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1d1a7efecf47b5" /><Relationship Type="http://schemas.openxmlformats.org/officeDocument/2006/relationships/notesMaster" Target="/ppt/notesMasters/notesMaster1.xml" Id="R8390d0a0089340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6564b490114617" /><Relationship Type="http://schemas.openxmlformats.org/officeDocument/2006/relationships/notesMaster" Target="/ppt/notesMasters/notesMaster1.xml" Id="R970fa849e42841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fcdf6fae4a4bbb" /><Relationship Type="http://schemas.openxmlformats.org/officeDocument/2006/relationships/notesMaster" Target="/ppt/notesMasters/notesMaster1.xml" Id="R832e7044672c4c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9fe84201714dba" /><Relationship Type="http://schemas.openxmlformats.org/officeDocument/2006/relationships/notesMaster" Target="/ppt/notesMasters/notesMaster1.xml" Id="R06dc3f188d8249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b1bbf9d1744c02" /><Relationship Type="http://schemas.openxmlformats.org/officeDocument/2006/relationships/notesMaster" Target="/ppt/notesMasters/notesMaster1.xml" Id="R9587555402e041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5ce7865f1d471d" /><Relationship Type="http://schemas.openxmlformats.org/officeDocument/2006/relationships/notesMaster" Target="/ppt/notesMasters/notesMaster1.xml" Id="R148ebbcbe43e41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0fe1552ac74991" /><Relationship Type="http://schemas.openxmlformats.org/officeDocument/2006/relationships/notesMaster" Target="/ppt/notesMasters/notesMaster1.xml" Id="Reff467caa1e649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f0150d30134320" /><Relationship Type="http://schemas.openxmlformats.org/officeDocument/2006/relationships/notesMaster" Target="/ppt/notesMasters/notesMaster1.xml" Id="R6ad599bd53d249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1641cdc25943f9" /><Relationship Type="http://schemas.openxmlformats.org/officeDocument/2006/relationships/notesMaster" Target="/ppt/notesMasters/notesMaster1.xml" Id="R8fd5af4f38d344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cfed24dc1443eb" /><Relationship Type="http://schemas.openxmlformats.org/officeDocument/2006/relationships/notesMaster" Target="/ppt/notesMasters/notesMaster1.xml" Id="R41f4c425a4ec4f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e4a1224fa24568" /><Relationship Type="http://schemas.openxmlformats.org/officeDocument/2006/relationships/notesMaster" Target="/ppt/notesMasters/notesMaster1.xml" Id="Re1658093760746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a08c11ca8341ee" /><Relationship Type="http://schemas.openxmlformats.org/officeDocument/2006/relationships/notesMaster" Target="/ppt/notesMasters/notesMaster1.xml" Id="R5da4b60e463f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Management proposal based on BU2 product strategy;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https://cloud.google.com/blog/products/ai-machine-learning/announcing-agents-to-payments-ap2-protocol</a:t>
            </a:r>
          </a:p>
          <a:p xmlns:a="http://schemas.openxmlformats.org/drawingml/2006/main">
            <a:r>
              <a:t>- https://x402.org/</a:t>
            </a:r>
          </a:p>
          <a:p xmlns:a="http://schemas.openxmlformats.org/drawingml/2006/main">
            <a:r>
              <a:t>- https://www.visa.com/en-us/solutions/intelligent-commerce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https://cloud.google.com/blog/products/ai-machine-learning/announcing-agents-to-payments-ap2-protocol</a:t>
            </a:r>
          </a:p>
          <a:p xmlns:a="http://schemas.openxmlformats.org/drawingml/2006/main">
            <a:r>
              <a:t>- https://docs.x402.org/introduction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Management proposal based on BU2 product strategy;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Management proposal based on BU2 product strategy;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Management proposal based on BU2 product strategy;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Management proposal based on BU2 product strategy;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Management proposal based on BU2 product strategy; no external claim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https://x402.org/</a:t>
            </a:r>
          </a:p>
          <a:p xmlns:a="http://schemas.openxmlformats.org/drawingml/2006/main">
            <a:r>
              <a:t>- 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https://x402.org/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3b77e313d40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6b88cf4f54bfe" /><Relationship Type="http://schemas.openxmlformats.org/officeDocument/2006/relationships/slideLayout" Target="/ppt/slideLayouts/slideLayout1.xml" Id="Rba1506f681ec48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506f681ec48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9d1444f254aef" /><Relationship Type="http://schemas.openxmlformats.org/officeDocument/2006/relationships/notesSlide" Target="/ppt/notesSlides/notesSlide1.xml" Id="R0a85ffaf5eeb41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e46b833294819" /><Relationship Type="http://schemas.openxmlformats.org/officeDocument/2006/relationships/notesSlide" Target="/ppt/notesSlides/notesSlide2.xml" Id="Ra8023fc5641643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ae9eecab04ffd" /><Relationship Type="http://schemas.openxmlformats.org/officeDocument/2006/relationships/notesSlide" Target="/ppt/notesSlides/notesSlide3.xml" Id="R0e184775f00c49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8999447dc4f61" /><Relationship Type="http://schemas.openxmlformats.org/officeDocument/2006/relationships/notesSlide" Target="/ppt/notesSlides/notesSlide4.xml" Id="R7f5cd10bb0f842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e4fa09d2d4ef6" /><Relationship Type="http://schemas.openxmlformats.org/officeDocument/2006/relationships/notesSlide" Target="/ppt/notesSlides/notesSlide5.xml" Id="Ra95094fbedc747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725c2220d42fc" /><Relationship Type="http://schemas.openxmlformats.org/officeDocument/2006/relationships/notesSlide" Target="/ppt/notesSlides/notesSlide6.xml" Id="R23eba95614854f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589a921ca4bec" /><Relationship Type="http://schemas.openxmlformats.org/officeDocument/2006/relationships/notesSlide" Target="/ppt/notesSlides/notesSlide7.xml" Id="R1505d91f0e21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c0457739416a" /><Relationship Type="http://schemas.openxmlformats.org/officeDocument/2006/relationships/notesSlide" Target="/ppt/notesSlides/notesSlide8.xml" Id="Ra3f8760eb21443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51513845043fe" /><Relationship Type="http://schemas.openxmlformats.org/officeDocument/2006/relationships/notesSlide" Target="/ppt/notesSlides/notesSlide9.xml" Id="R7b5e2153937f4b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7ac296f854381" /><Relationship Type="http://schemas.openxmlformats.org/officeDocument/2006/relationships/notesSlide" Target="/ppt/notesSlides/notesSlide10.xml" Id="Rff446281867f44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38fa107834550" /><Relationship Type="http://schemas.openxmlformats.org/officeDocument/2006/relationships/notesSlide" Target="/ppt/notesSlides/notesSlide11.xml" Id="R0b8c5f0bcfd145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eab2083e14c7a" /><Relationship Type="http://schemas.openxmlformats.org/officeDocument/2006/relationships/notesSlide" Target="/ppt/notesSlides/notesSlide12.xml" Id="R11041749ea494c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1806bcaaa4a38" /><Relationship Type="http://schemas.openxmlformats.org/officeDocument/2006/relationships/notesSlide" Target="/ppt/notesSlides/notesSlide13.xml" Id="R91f9a07a492343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30448113343dd" /><Relationship Type="http://schemas.openxmlformats.org/officeDocument/2006/relationships/notesSlide" Target="/ppt/notesSlides/notesSlide14.xml" Id="R93caec268f8e42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96961-72A1-4AC2-9012-608D643A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8FE57-F31E-4E84-90E1-697E09C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74FF"/>
                </a:solidFill>
              </a:defRPr>
            </a:pPr>
            <a:r>
              <a:rPr sz="1650" b="1">
                <a:solidFill>
                  <a:srgbClr val="2274FF"/>
                </a:solidFill>
              </a:rPr>
              <a:t>BU2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DA175-39DA-4D10-87EF-8DF904B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858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7111F"/>
                </a:solidFill>
              </a:defRPr>
            </a:pPr>
            <a:r>
              <a:rPr sz="4650" b="1">
                <a:solidFill>
                  <a:srgbClr val="07111F"/>
                </a:solidFill>
              </a:rPr>
              <a:t>AI Agent 的</a:t>
            </a:r>
          </a:p>
          <a:p xmlns:a="http://schemas.openxmlformats.org/drawingml/2006/main">
            <a:pPr algn="l">
              <a:defRPr sz="4650" b="1">
                <a:solidFill>
                  <a:srgbClr val="07111F"/>
                </a:solidFill>
              </a:defRPr>
            </a:pPr>
            <a:r>
              <a:rPr sz="4650" b="1">
                <a:solidFill>
                  <a:srgbClr val="07111F"/>
                </a:solidFill>
              </a:rPr>
              <a:t>商业账户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A440A-93C1-4FE6-8190-8F80493C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71"/>
                </a:solidFill>
              </a:defRPr>
            </a:pPr>
            <a:r>
              <a:rPr sz="1800" b="0">
                <a:solidFill>
                  <a:srgbClr val="536171"/>
                </a:solidFill>
              </a:rPr>
              <a:t>身份 · 预算 · 支付权限 · 审计账本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76C9A-0D38-409E-A9C5-DB85CF73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89535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F9AB0-97D8-470A-91D9-EAB78931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066800"/>
            <a:ext cx="1952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BU</a:t>
            </a:r>
          </a:p>
          <a:p xmlns:a="http://schemas.openxmlformats.org/drawingml/2006/main">
            <a:pPr algn="ctr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C3CC5-FFD4-43D3-8FE9-A8A3CFFF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A36DA-24AA-42E2-8337-0D7C7A02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Budget for agents. Control for humans.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E4145-4E36-43F4-8082-754EA69D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171"/>
                </a:solidFill>
              </a:defRPr>
            </a:pPr>
            <a:r>
              <a:rPr sz="1050" b="0">
                <a:solidFill>
                  <a:srgbClr val="536171"/>
                </a:solidFill>
              </a:rPr>
              <a:t>商业计划书 v0.1  |  2026.08</a:t>
            </a:r>
          </a:p>
        </p:txBody>
      </p:sp>
    </p:spTree>
    <p:extLst>
      <p:ext uri="{BB962C8B-B14F-4D97-AF65-F5344CB8AC3E}">
        <p14:creationId xmlns:p14="http://schemas.microsoft.com/office/powerpoint/2010/main" val="822437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6FFAA-1FEF-4854-BCCF-7CFED7C7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3B7AB-94B1-49A5-8614-8DC86394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AI 获得执行能力后，必须获得受控的经济权限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189B5-2CEB-411C-BF83-AD0AC66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FF7BF-C50C-4243-9253-E5708518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04B5-B9DB-4A37-A924-40BE010E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71"/>
                </a:solidFill>
              </a:defRPr>
            </a:pPr>
            <a:r>
              <a:rPr sz="1800" b="0">
                <a:solidFill>
                  <a:srgbClr val="536171"/>
                </a:solidFill>
              </a:rPr>
              <a:t>人类账户体系默认“人在点击付款”；Agent 经济需要重新证明授权、范围与责任。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073F6-F92D-4221-9D1E-2711E36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29CB3-8238-48E9-840B-4793871A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身份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D1243-5AF5-42E8-A96F-21DB3A72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明确谁在行动、由谁创建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6F44F-E714-4CAE-A405-5C3E033A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550FD-4299-4CD7-9B4A-B4E2302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预算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9ECD4-936F-4B5F-B1B2-E2DF8E59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限定能花多少、花在哪里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11B63-1090-4F0B-9C7D-BD90B611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6C080-91EE-4AFC-BF4E-E3E3432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凭证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921D2-A7D6-4980-B265-18B682CD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证明为何支付、结果是什么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909FB-14EC-495D-9823-07EFA5E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134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0B8A63-D158-4A7F-B445-3BDDD76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948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BU2 将用户意图、Agent 身份、消费规则和交易结果连接为一条可审计链。</a:t>
            </a:r>
          </a:p>
        </p:txBody>
      </p:sp>
    </p:spTree>
    <p:extLst>
      <p:ext uri="{BB962C8B-B14F-4D97-AF65-F5344CB8AC3E}">
        <p14:creationId xmlns:p14="http://schemas.microsoft.com/office/powerpoint/2010/main" val="1332235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CDFED-2003-4C19-9F0D-DCF718B9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D9D4E-2FE5-4CCF-BA12-82331D7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今天的 Agent 可以消费，但企业无法有效治理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180F8-742B-4E4D-A6F3-F68C45BA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FDB7C-DB27-4093-B95D-D347882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6C855-28D8-4E94-A675-F38BD176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4AA8-5AA8-44B6-B1C6-3AAE4D21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5257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账户共享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4851D-0ADB-485E-B1A5-72C376C8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多个 Agent 共用 API Key、信用卡或平台余额，费用无法准确归属。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6B37D-7FC4-4092-A679-944903C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388B-8D9D-4A55-9A9F-F4ABE399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2892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授权模糊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2CF48-8E24-4309-BC29-D8137F66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一句自然语言指令通常没有金额、商户、时间和商品边界。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D8F14-F1D3-4C90-8EFC-21A0EDDE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6C738-8D0B-4F7C-8E7B-70C6E241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05275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账单失语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27DBE-A1B5-458C-95A4-7F50D6FF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传统流水告诉企业“花了多少钱”，却不解释“为什么花”。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71E00-8765-4C50-A780-4B63357A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44005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2C576-FA8F-44D5-9F18-B26B6E63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74FF"/>
                </a:solidFill>
              </a:defRPr>
            </a:pPr>
            <a:r>
              <a:rPr sz="1500" b="1">
                <a:solidFill>
                  <a:srgbClr val="2274FF"/>
                </a:solidFill>
              </a:rPr>
              <a:t>企业真正需要回答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92F3D-7100-47EA-B63B-5798A012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2200"/>
            <a:ext cx="37147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哪个 Agent？</a:t>
            </a:r>
          </a:p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为了哪个任务？</a:t>
            </a:r>
          </a:p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获得了谁的授权？</a:t>
            </a:r>
          </a:p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规则是否允许？</a:t>
            </a:r>
          </a:p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交付是否完成？</a:t>
            </a:r>
          </a:p>
        </p:txBody>
      </p:sp>
    </p:spTree>
    <p:extLst>
      <p:ext uri="{BB962C8B-B14F-4D97-AF65-F5344CB8AC3E}">
        <p14:creationId xmlns:p14="http://schemas.microsoft.com/office/powerpoint/2010/main" val="1771719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A39F8-5230-422D-9769-B1086A99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63E80-70E0-4CD3-8580-21F17C09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协议层已经启动，产品控制层仍有窗口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8EA3F-9AF2-449F-A7CD-0AC52622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E2CC3-A934-489F-A364-AFF8D437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32F1-D529-4D3C-A308-2B6E87A7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29AC3-9527-4416-B123-A2BCC81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7162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AP2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CAB39-EBC2-41DA-8A95-E55D09A4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43100"/>
            <a:ext cx="929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用可验证授权表达用户意图，并处理 Agent 交易的授权与责任。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D4E5D-C921-4FBE-8C97-FD6A1713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3D6F3-16FC-4283-B650-1CB4A09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5272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x402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C67E7-C75B-4E30-97E8-901B1502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929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把 HTTP 402 变成机器原生支付，让 Agent 按次购买 API 与内容。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883A0-9DCF-42C2-BAD1-6AEE6E2E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D78E4-2839-4E34-BD6C-037FD283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3382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支付网络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B9455-1F3A-41F2-BDBF-A74875D8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05300"/>
            <a:ext cx="929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Visa 等机构开始提供面向 AI 发起交易的凭证、控制和认证能力。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1455F-3A78-4A0E-B523-E8940A6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35814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1EF30-60AC-436B-957C-94E0BECB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244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机会：做协议之上的统一控制台</a:t>
            </a:r>
          </a:p>
        </p:txBody>
      </p:sp>
    </p:spTree>
    <p:extLst>
      <p:ext uri="{BB962C8B-B14F-4D97-AF65-F5344CB8AC3E}">
        <p14:creationId xmlns:p14="http://schemas.microsoft.com/office/powerpoint/2010/main" val="1228911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E015F-4666-4EC9-BABA-9E70B361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315ED-F64A-4AB4-B6F5-49DD37A4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BU2 是 Agent 的身份页、钱包和财务控制台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1B98B-1B7C-4E4C-A4B7-6FEAAE08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71D0C-7F7A-4560-A8BA-D8D135BB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DC3AC-10EC-4D61-991C-FE6077C1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209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58740-CE87-4D1F-ACCD-32E961EE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F1649-E4E3-4FE7-90CD-0E9B092C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Agent Passport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72DBB-4A61-4807-BF75-942A58CA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公开身份、能力、创建者与调用入口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91215-1D7A-4DF7-B80A-0BB8C660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52600"/>
            <a:ext cx="2209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6E3E7-F7B8-4EF8-8851-C4FDF73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24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741DE-475A-4C71-8070-B055B9FE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Agent Wallet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5C968-17FD-4A59-9E53-505E9204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43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独立预算、收入、支出与余额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13488-E003-4744-84E1-622A9918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2209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08886-0861-44E6-83BA-40C6C4FA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24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D5F5"/>
                </a:solidFill>
              </a:defRPr>
            </a:pPr>
            <a:r>
              <a:rPr sz="1200" b="1">
                <a:solidFill>
                  <a:srgbClr val="62D5F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4BBF5-F2BF-441B-98D0-DCEED8DF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Policy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95D6E-56A4-4F65-8BFF-C653345A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0"/>
                </a:solidFill>
              </a:defRPr>
            </a:pPr>
            <a:r>
              <a:rPr sz="1275" b="0">
                <a:solidFill>
                  <a:srgbClr val="D7E3F0"/>
                </a:solidFill>
              </a:rPr>
              <a:t>限额、白名单、时间与审批规则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FF1CF-587B-4CA0-953E-E966A2A3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2209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FE16F-6FB4-44C4-9258-6F3EC4D8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240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E331A-3EAE-485A-8E41-62559B3E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Audit Ledger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DBB51-4A6B-4CC3-BCE3-8578C40B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意图、授权、支付、交付完整证据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57A5C-98DB-48CF-96FB-4530C135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13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底层兼容 AP2、x402、稳定币、虚拟卡与企业余额；BU2 不重新发明支付网络。</a:t>
            </a:r>
          </a:p>
        </p:txBody>
      </p:sp>
    </p:spTree>
    <p:extLst>
      <p:ext uri="{BB962C8B-B14F-4D97-AF65-F5344CB8AC3E}">
        <p14:creationId xmlns:p14="http://schemas.microsoft.com/office/powerpoint/2010/main" val="72805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87E35-5ECB-417D-AA20-936D332B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FFDCF-A025-4055-94E3-D1B7A2D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一笔 Agent 支付必须留下完整因果链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8A6A7-FF23-40F8-9D31-30F413B6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FC7AB-9D49-402A-AD68-AC7D109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7F5F2-F69C-4ED3-863F-72AF444C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935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B7F18-92F2-4E71-BAD5-C21C89D2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74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D2CF6-ADA5-4565-A5A0-0F5A65F2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74FF"/>
                </a:solidFill>
              </a:defRPr>
            </a:pPr>
            <a:r>
              <a:rPr sz="1725" b="1">
                <a:solidFill>
                  <a:srgbClr val="2274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BA062-09BE-4918-8E43-82BFA0BA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用户意图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CC901-98A5-4738-BEA6-6FA007D6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7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E4401-1C8F-4A68-A9E3-328F7F5E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74FF"/>
                </a:solidFill>
              </a:defRPr>
            </a:pPr>
            <a:r>
              <a:rPr sz="1725" b="1">
                <a:solidFill>
                  <a:srgbClr val="2274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65A87-898F-411A-990F-809FEE4A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任务规划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6A170-F942-4C5B-ACEA-FE43690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7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12F82-9C3E-4339-881B-5ADEBAB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74FF"/>
                </a:solidFill>
              </a:defRPr>
            </a:pPr>
            <a:r>
              <a:rPr sz="1725" b="1">
                <a:solidFill>
                  <a:srgbClr val="2274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39497-E1B9-4A9B-A5DA-3D4F324C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623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购买申请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96ABA-149A-4CEC-8F5E-9AA94B6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FE0EBC-7D6A-48FD-9CE3-AC327DEC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71096-FE3D-49D8-9AB3-DFBFE205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规则检查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2B46E-D7AE-41F6-8DE6-A4696036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7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72E05-AF1C-429B-83B6-1B94B74F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74FF"/>
                </a:solidFill>
              </a:defRPr>
            </a:pPr>
            <a:r>
              <a:rPr sz="1725" b="1">
                <a:solidFill>
                  <a:srgbClr val="2274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E1433-56A3-4347-AA79-C23C06E4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支付执行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B277A-0FF7-48AA-8564-7D58A12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479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7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87563-A41C-48F4-9B3E-26ABAB23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4795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274FF"/>
                </a:solidFill>
              </a:defRPr>
            </a:pPr>
            <a:r>
              <a:rPr sz="1725" b="1">
                <a:solidFill>
                  <a:srgbClr val="2274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103E1-BB73-425C-A1BE-01FF3489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623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交付凭证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7E964B-F390-41C5-B42D-E42876F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95800"/>
            <a:ext cx="7505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1416B-0D0F-4963-BF94-44CBDA9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482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大模型提出支付理由；确定性策略引擎决定是否允许。</a:t>
            </a:r>
          </a:p>
        </p:txBody>
      </p:sp>
    </p:spTree>
    <p:extLst>
      <p:ext uri="{BB962C8B-B14F-4D97-AF65-F5344CB8AC3E}">
        <p14:creationId xmlns:p14="http://schemas.microsoft.com/office/powerpoint/2010/main" val="761097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9F4DB-BADE-4450-9774-0782AF8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8583A-30B6-4CCF-B56F-E5D76F16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先解决已发生的 API 费用，再扩展真实支付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FB373-B958-4DE7-B1DF-E9074E80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66B6C-DBB8-41E4-A560-635A28B7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15B91-8183-44CC-A26A-06B8AE0C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切入口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B2A66-6C4B-45A8-BD36-BC4BE9D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AI 预算与费用治理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2272A-B2EC-4AD3-AF81-D96920E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</a:defRPr>
            </a:pPr>
            <a:r>
              <a:rPr sz="1500" b="0">
                <a:solidFill>
                  <a:srgbClr val="536171"/>
                </a:solidFill>
              </a:rPr>
              <a:t>统一管理模型、搜索、数据、云计算和 SaaS 成本；不等待自主支付市场完全成熟。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47051-5FA6-45C6-8512-E0420840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44577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D55A7-93E0-4BF2-9753-F6744B99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D7E26-0990-440B-8C3D-1013EAC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归因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235B4-579A-4810-9853-2C0B4284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1"/>
                </a:solidFill>
              </a:defRPr>
            </a:pPr>
            <a:r>
              <a:rPr sz="1200" b="0">
                <a:solidFill>
                  <a:srgbClr val="536171"/>
                </a:solidFill>
              </a:rPr>
              <a:t>哪个 Agent / 任务产生费用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9B7BB-18B1-4673-A592-173A45FE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6A116-BEE6-445E-8339-D9C070C3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4F500-F0F2-4342-B03E-74B8DD50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1"/>
                </a:solidFill>
              </a:defRPr>
            </a:pPr>
            <a:r>
              <a:rPr sz="1200" b="0">
                <a:solidFill>
                  <a:srgbClr val="536171"/>
                </a:solidFill>
              </a:rPr>
              <a:t>预算、限额、白名单、审批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2023D-A57C-4A65-A5A6-9017E59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33767-87D5-4195-ADF2-FCB8E52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支付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0124F-E9C8-4D51-804B-5FFAD966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1"/>
                </a:solidFill>
              </a:defRPr>
            </a:pPr>
            <a:r>
              <a:rPr sz="1200" b="0">
                <a:solidFill>
                  <a:srgbClr val="536171"/>
                </a:solidFill>
              </a:rPr>
              <a:t>x402、稳定币、虚拟卡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D8878-A466-4F64-9C74-04A0438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81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74FF"/>
                </a:solidFill>
              </a:defRPr>
            </a:pPr>
            <a:r>
              <a:rPr sz="1050" b="1">
                <a:solidFill>
                  <a:srgbClr val="2274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2148C-7356-43D6-B6E5-4B5F7871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81450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</a:defRPr>
            </a:pPr>
            <a:r>
              <a:rPr sz="1575" b="1">
                <a:solidFill>
                  <a:srgbClr val="07111F"/>
                </a:solidFill>
              </a:rPr>
              <a:t>网络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A62DB-DF16-4A16-A3C7-8C16689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1"/>
                </a:solidFill>
              </a:defRPr>
            </a:pPr>
            <a:r>
              <a:rPr sz="1200" b="0">
                <a:solidFill>
                  <a:srgbClr val="536171"/>
                </a:solidFill>
              </a:rPr>
              <a:t>Agent 收款、信誉与市场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E5C79-15CF-4C83-BF54-C335277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10EA3-1C1C-4271-BB70-8C901DB6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即使支付演进较慢，费用治理仍可独立收费。</a:t>
            </a:r>
          </a:p>
        </p:txBody>
      </p:sp>
    </p:spTree>
    <p:extLst>
      <p:ext uri="{BB962C8B-B14F-4D97-AF65-F5344CB8AC3E}">
        <p14:creationId xmlns:p14="http://schemas.microsoft.com/office/powerpoint/2010/main" val="1647532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A7171-398E-45D5-95B6-C1388643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10327-1F75-4802-ADD3-3B96ABEA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第一批客户是已经为多个 Agent 付费的团队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6C7B1-D885-4B72-9891-1672601E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B576D-3442-4A86-8170-3062F18C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9B7E4-6506-45C3-A48E-810F1A62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74FF"/>
                </a:solidFill>
              </a:defRPr>
            </a:pPr>
            <a:r>
              <a:rPr sz="1125" b="1">
                <a:solidFill>
                  <a:srgbClr val="2274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9DE79-228B-43E8-816B-54F19ED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621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AI 创业团队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79C6E-A711-4E6D-A61C-98202C9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621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多模型、多工具、多环境的成本归因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57AE0-7CD9-4647-8921-99D09048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09800"/>
            <a:ext cx="906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6CB14-542D-4B82-B745-A9CDCA0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74FF"/>
                </a:solidFill>
              </a:defRPr>
            </a:pPr>
            <a:r>
              <a:rPr sz="1125" b="1">
                <a:solidFill>
                  <a:srgbClr val="2274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05107-DE13-404F-9D1C-6B7BE341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Agent 开发者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44361-8B1E-44AF-8372-30B8F46A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为产品加入预算、审批与支付能力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B27DE4-15C0-463C-9873-AFDD19D0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19450"/>
            <a:ext cx="906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58144-3D6A-45CC-B0E1-FCAFA09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74FF"/>
                </a:solidFill>
              </a:defRPr>
            </a:pPr>
            <a:r>
              <a:rPr sz="1125" b="1">
                <a:solidFill>
                  <a:srgbClr val="2274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BB34DD-85B4-43BF-99F5-854BF841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814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MCP 工具商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F49CD-9F44-4EE3-A557-682ED4FA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提供可计费调用与可信收据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7E86E-E955-4AE2-8287-739E9CA8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9100"/>
            <a:ext cx="906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8266F-51D1-4A08-9267-CC861334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74FF"/>
                </a:solidFill>
              </a:defRPr>
            </a:pPr>
            <a:r>
              <a:rPr sz="1125" b="1">
                <a:solidFill>
                  <a:srgbClr val="2274F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C7E4B-79B4-420D-A9C3-98C21514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</a:defRPr>
            </a:pPr>
            <a:r>
              <a:rPr sz="1725" b="1">
                <a:solidFill>
                  <a:srgbClr val="07111F"/>
                </a:solidFill>
              </a:rPr>
              <a:t>研究与数据团队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A8E0E-6AC0-4F3F-9DB8-C9BA5E2A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</a:defRPr>
            </a:pPr>
            <a:r>
              <a:rPr sz="1425" b="0">
                <a:solidFill>
                  <a:srgbClr val="536171"/>
                </a:solidFill>
              </a:rPr>
              <a:t>按任务控制搜索、数据和推理成本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ADF2FE-CC24-47F1-A999-A820E4C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906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8352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8301F-E48D-4B13-B804-523170F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70E1B-97EA-4C34-9FFE-72780D50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BU2 的位置在支付通道与 Agent 框架之间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43C24-E83F-432A-8CF2-49E9778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1B86A-FDAD-416C-9239-7AD3A3C1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4B09D-C6E3-4427-9CB2-2462D27B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产品类型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65F66-82E3-489B-BF10-A1C046E8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85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擅长解决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A16C7-9F2E-4DB3-986C-C7E00FF1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85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缺失能力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A0D67-F9EC-4136-BAFE-FC09C75F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859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BU2 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2B974-DAF4-4405-8679-43B8150A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8CE41-8B6B-4C60-9776-33EFBDBA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Agent 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5B8FD-C52C-41E8-AABD-A066E1F2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57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规划与执行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12A93-BB56-4FA1-BE7A-C1D3D02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财务治理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041D8-4DFB-41A8-B894-B68E1C78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保持兼容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C2174-C278-4425-8636-763DB7DB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302D8-5B3F-4AA9-A7E0-81F204E0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支付协议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625FA-835D-4761-AFB2-C2011927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14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授权与结算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396BF-412E-4AF9-8BC1-0F4C55FB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统一控制台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A5897-73A6-4AD6-A5BA-21CBDF4D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协议聚合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133C5-9DD2-402E-A7D6-25DC57B1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7BB443-A693-4978-8E89-366540D7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费用管理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62A4-0A2D-4D69-91BB-2999538C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员工支出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2580F5-C4D1-480D-963C-E40F40A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71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Agent 上下文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66CCF-A1F8-4FD6-98B0-75E886E7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719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任务级归因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91B7F-33E3-43CE-A909-17718FF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18DD3-B15B-443E-8B8D-2D16E99F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</a:defRPr>
            </a:pPr>
            <a:r>
              <a:rPr sz="1500" b="1">
                <a:solidFill>
                  <a:srgbClr val="07111F"/>
                </a:solidFill>
              </a:rPr>
              <a:t>加密钱包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07B04-5AA2-48B8-86CF-FBBDA852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资产与签名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CBD16-3348-4614-9F5E-01FEE383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29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企业政策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34327-8525-4D46-AD9C-F98FEABD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291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不做炒币钱包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D81749-B4EF-444A-9825-D9CE5437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5064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B285D-13CD-4F5D-9B6D-1F12D540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A3DE9-156F-4140-9618-24F75E54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先卖治理软件，支付收入作为第二增长曲线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9BF68-1911-4163-9E28-D60792E8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0F220-360B-4334-9ACA-FEA93FC5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94407-FDEC-4DB9-8AB0-F8EF43EC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209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E30D1-4FF9-41E9-9B5A-7E9EC0BB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74FF"/>
                </a:solidFill>
              </a:defRPr>
            </a:pPr>
            <a:r>
              <a:rPr sz="1500" b="1">
                <a:solidFill>
                  <a:srgbClr val="2274FF"/>
                </a:solidFill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DE657-53E0-4422-89FF-69141D2D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$0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6BB0A-316E-4B6D-B9EF-EE87686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1 个 Agent / 测试环境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30F6B-BB8F-47BD-B37A-8716BCA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2209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BB756-0AE9-4B1C-9D35-2FF93B84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74FF"/>
                </a:solidFill>
              </a:defRPr>
            </a:pPr>
            <a:r>
              <a:rPr sz="1500" b="1">
                <a:solidFill>
                  <a:srgbClr val="2274FF"/>
                </a:solidFill>
              </a:rPr>
              <a:t>Pro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F0920-B529-435D-96C4-9C58B487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$19/月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29AD3-3780-4301-AACF-6035321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10 个 Agent / 预算策略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C505B-EB95-49A8-B054-4DEE5974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2209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67BC9-CE17-4C3E-8FA7-9CF26186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240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D5F5"/>
                </a:solidFill>
              </a:defRPr>
            </a:pPr>
            <a:r>
              <a:rPr sz="1500" b="1">
                <a:solidFill>
                  <a:srgbClr val="62D5F5"/>
                </a:solidFill>
              </a:rPr>
              <a:t>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7B5DC-E1C2-400D-89CE-DA5F017A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$99/月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039C5-C304-4481-8892-4AC7688E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F0"/>
                </a:solidFill>
              </a:defRPr>
            </a:pPr>
            <a:r>
              <a:rPr sz="1275" b="0">
                <a:solidFill>
                  <a:srgbClr val="D7E3F0"/>
                </a:solidFill>
              </a:rPr>
              <a:t>审批 / 归因 / 数据导出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0F07F-B713-4C33-8C4B-9C4AB65B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209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8BB6E-52AF-49AF-9CBF-A4F43EC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74FF"/>
                </a:solidFill>
              </a:defRPr>
            </a:pPr>
            <a:r>
              <a:rPr sz="1500" b="1">
                <a:solidFill>
                  <a:srgbClr val="2274FF"/>
                </a:solidFill>
              </a:rPr>
              <a:t>Enterprise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9E864-D746-4EA7-A983-98CBC95D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1828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</a:defRPr>
            </a:pPr>
            <a:r>
              <a:rPr sz="2250" b="1">
                <a:solidFill>
                  <a:srgbClr val="07111F"/>
                </a:solidFill>
              </a:rPr>
              <a:t>定制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D26CD-39D4-4451-8FFE-2A92C8F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SSO / 审计 / 私有部署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AC455-91CF-4851-AA61-82E8DA76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后续收入：支付编排 · 虚拟卡管理 · Agent 认证 · Agent 市场服务费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07B30-49D8-41A0-BB61-9548FA82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3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171"/>
                </a:solidFill>
              </a:defRPr>
            </a:pPr>
            <a:r>
              <a:rPr sz="1050" b="0">
                <a:solidFill>
                  <a:srgbClr val="536171"/>
                </a:solidFill>
              </a:rPr>
              <a:t>以上价格为初始商业假设，需由试点客户验证。</a:t>
            </a:r>
          </a:p>
        </p:txBody>
      </p:sp>
    </p:spTree>
    <p:extLst>
      <p:ext uri="{BB962C8B-B14F-4D97-AF65-F5344CB8AC3E}">
        <p14:creationId xmlns:p14="http://schemas.microsoft.com/office/powerpoint/2010/main" val="20459642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5FF82-5D84-4106-ABAF-F2F27762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3CDBD-DA05-4098-B4F8-81891500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开发者工具形成入口，身份页与收据形成传播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F9B69-04C9-489D-B724-BC93BBFA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25013-1CE6-4518-BDC8-4AE364E1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D683F-5D8B-46A7-9594-4539A8FD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914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A835D-ABC0-4874-9D8E-1E98BDC4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AC11A-085C-4865-90E8-E5714665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开源 SDK + MCP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AB488-03B0-4F1E-B7C8-D238C71C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2914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53C5A-DDC8-4A4B-9C84-63215F7E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593F9-757E-494C-942B-3B2CD67D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Agent 成本计算器与沙盒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F36EB-45C1-4804-B37B-751E919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2914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460C8-1239-4B49-9D78-CF3B69E0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288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</a:defRPr>
            </a:pPr>
            <a:r>
              <a:rPr sz="2550" b="1">
                <a:solidFill>
                  <a:srgbClr val="07111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DA593-E522-48BC-98FA-DE6D458B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1"/>
                </a:solidFill>
              </a:defRPr>
            </a:pPr>
            <a:r>
              <a:rPr sz="1275" b="0">
                <a:solidFill>
                  <a:srgbClr val="536171"/>
                </a:solidFill>
              </a:rPr>
              <a:t>x402 / AP2 示例项目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DE5FA-C28E-4502-89DA-083D4AF8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134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EA773-FE53-473B-BFC0-F43B76D0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9486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创建 Agent → 领取 bu2.com/a/name → 配置预算 → 产生可信收据 → 暴露 BU2 品牌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0EFF3-AB09-4FF1-BE02-19CEE75C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核心获客承诺：用最少代码，为 Agent 增加预算上限和单笔审批。</a:t>
            </a:r>
          </a:p>
        </p:txBody>
      </p:sp>
    </p:spTree>
    <p:extLst>
      <p:ext uri="{BB962C8B-B14F-4D97-AF65-F5344CB8AC3E}">
        <p14:creationId xmlns:p14="http://schemas.microsoft.com/office/powerpoint/2010/main" val="286061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702D2A-229E-47E2-8F7A-143D5A3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DA74C-76BC-4AF1-983A-DE950FBB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12 个月路线：从虚拟预算走向真实商业账户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DDE9E-8543-4802-BDEA-8BB6C75B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33134-F38E-44A3-9AB6-DFCD8C55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74793-9C71-448C-A23C-BB36DE43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902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A6C51-6F89-4910-9488-CB5BA328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BFC80-908A-4B0A-9897-55A8DADC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1D2EF-8EE9-467F-A49C-85CEA4A9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0-1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6B261-BA1F-46DA-95EA-46004B4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7EE41-F362-43DE-8707-772CA42B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30 次访谈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产品原型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等待名单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BF2A9-E192-4A49-ABB9-A403C7B0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B7979-159F-4790-B3EB-529740F4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F6D29-384B-4503-B757-279AF71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1-3 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1039A-2E17-41FC-83CF-D89FE66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1E39D-2F25-4BF5-8352-84EB192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虚拟预算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策略引擎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统一账本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EE37B-8D15-4CBC-B999-8D874134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21600-4FFF-4E36-A285-E5B10B2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6DA3C-D6A9-43E3-8F38-BF53B6F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3-6 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C1366-4C92-4761-BD08-F416476D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38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支付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00B12-2432-43A3-B947-809C0AF0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x402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非托管连接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签名收据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82548-2117-46FE-8FF7-310A489E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27E39A-62C3-4195-AFF9-29B6316E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F3247-BE6E-447D-84C8-5C0DEF68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74FF"/>
                </a:solidFill>
              </a:defRPr>
            </a:pPr>
            <a:r>
              <a:rPr sz="1200" b="1">
                <a:solidFill>
                  <a:srgbClr val="2274FF"/>
                </a:solidFill>
              </a:rPr>
              <a:t>6-12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A2371-468D-4EBB-BF1E-255D9A82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商业化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EBDD1-7264-4405-B845-68443629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719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团队审批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AP2 支持</a:t>
            </a:r>
          </a:p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企业集成</a:t>
            </a:r>
          </a:p>
        </p:txBody>
      </p:sp>
    </p:spTree>
    <p:extLst>
      <p:ext uri="{BB962C8B-B14F-4D97-AF65-F5344CB8AC3E}">
        <p14:creationId xmlns:p14="http://schemas.microsoft.com/office/powerpoint/2010/main" val="13067228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40037-AA5D-4E98-AD70-7A90C8DC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74FF"/>
                </a:solidFill>
              </a:defRPr>
            </a:pPr>
            <a:r>
              <a:rPr sz="975" b="1">
                <a:solidFill>
                  <a:srgbClr val="2274FF"/>
                </a:solidFill>
              </a:rPr>
              <a:t>BU2 / AI AGENT WALLET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DCF45-E3A6-4050-AFB7-FEAD6E9D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</a:defRPr>
            </a:pPr>
            <a:r>
              <a:rPr sz="2850" b="1">
                <a:solidFill>
                  <a:srgbClr val="07111F"/>
                </a:solidFill>
              </a:rPr>
              <a:t>关键风险决定产品边界，也构成治理壁垒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13E9D-1FD6-4A1F-B82A-3353A7D8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36171"/>
                </a:solidFill>
              </a:defRPr>
            </a:pPr>
            <a:r>
              <a:rPr sz="900" b="0">
                <a:solidFill>
                  <a:srgbClr val="536171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41BE0-C120-4AC4-8F06-B6320E5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22270-5072-4556-8438-AF47B30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AAF34-925C-42B9-8959-A87C6B23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资金监管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E59DE-C617-4534-8146-D9F0DF78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初期不托管法币；采用非托管模式及持牌合作方。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A4B59-5CE0-40A7-B0E7-C6378311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05050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AE9FB-E68B-4FB3-B256-B8BC3A8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CFF5C-2C0C-47CE-91E3-2E40061C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81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误支付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F7D1B-95C7-4962-82F4-B54B2BCA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81275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确定性规则、最小权限、大额人工确认。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3DCDF-370E-4C90-85A6-2074D628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64942-D41A-4D04-9A73-0BB36C4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4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85AE6-FAA6-4B59-93D1-13D76E9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提示注入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7B10B-5E2D-41ED-A2FA-C7C6A393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81400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模型不接触私钥；内容与支付执行隔离。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D58FA-227C-47E7-BF4E-D59F392B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F8D76-319F-4440-A212-EC7EAAEF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279E2-3BAB-417E-85A7-09D910D2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815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巨头进入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C1A8B-C8E0-4483-9413-615F6095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81525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</a:defRPr>
            </a:pPr>
            <a:r>
              <a:rPr sz="1350" b="0">
                <a:solidFill>
                  <a:srgbClr val="536171"/>
                </a:solidFill>
              </a:rPr>
              <a:t>保持模型和支付协议中立，深耕任务级审计。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977274-FB78-4080-9810-3F1970D1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05425"/>
            <a:ext cx="9448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1D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57961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9CA22-C4E3-426E-AEDA-BA5DE1E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D5F5"/>
                </a:solidFill>
              </a:defRPr>
            </a:pPr>
            <a:r>
              <a:rPr sz="1350" b="1">
                <a:solidFill>
                  <a:srgbClr val="62D5F5"/>
                </a:solidFill>
              </a:rPr>
              <a:t>BU2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AD6E1-3A7D-45EB-B417-08994AC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下一步不是造一个完整钱包，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而是验证一个付费问题。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36800-92EB-4BAD-8672-93F33A9E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7E3F0"/>
                </a:solidFill>
              </a:defRPr>
            </a:pPr>
            <a:r>
              <a:rPr sz="1950" b="0">
                <a:solidFill>
                  <a:srgbClr val="D7E3F0"/>
                </a:solidFill>
              </a:rPr>
              <a:t>企业是否愿意为不同 Agent 分配预算，并追踪每笔费用的任务归属？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F145E-121E-451F-A7A7-7708A878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134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A494C-910B-4FF5-B632-D3F25AC2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05325"/>
            <a:ext cx="9639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90 天目标：3-5 家试点 · 100 个活跃 Agent · 完成一次真实 x402 支付闭环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383A1-D6D5-446D-94B6-79D006EE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D5F5"/>
                </a:solidFill>
              </a:defRPr>
            </a:pPr>
            <a:r>
              <a:rPr sz="1500" b="1">
                <a:solidFill>
                  <a:srgbClr val="62D5F5"/>
                </a:solidFill>
              </a:rPr>
              <a:t>bu2.com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A52D3-5DE9-4900-8E03-D976E6A7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10250"/>
            <a:ext cx="501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Budget for agents. Control for humans.</a:t>
            </a:r>
          </a:p>
        </p:txBody>
      </p:sp>
    </p:spTree>
    <p:extLst>
      <p:ext uri="{BB962C8B-B14F-4D97-AF65-F5344CB8AC3E}">
        <p14:creationId xmlns:p14="http://schemas.microsoft.com/office/powerpoint/2010/main" val="1210074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2026-08-31T15:57:59.3790000Z</dcterms:created>
  <dcterms:modified xsi:type="dcterms:W3CDTF">2026-08-31T15:57:59.3790000Z</dcterms:modified>
</coreProperties>
</file>